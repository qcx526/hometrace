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6b2f6a4f134821" /><Relationship Type="http://schemas.openxmlformats.org/officeDocument/2006/relationships/extended-properties" Target="/docProps/app.xml" Id="R0dcbe4fe19ca41b8" /><Relationship Type="http://schemas.openxmlformats.org/officeDocument/2006/relationships/officeDocument" Target="/ppt/presentation.xml" Id="R046a51071a0a43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9d86a06e7041f8"/>
  </p:sldMasterIdLst>
  <p:notesMasterIdLst>
    <p:notesMasterId xmlns:r="http://schemas.openxmlformats.org/officeDocument/2006/relationships" r:id="Rfe9ad2d0ca6b4dcc"/>
  </p:notesMasterIdLst>
  <p:sldIdLst>
    <p:sldId xmlns:r="http://schemas.openxmlformats.org/officeDocument/2006/relationships" id="256" r:id="R761cf86d3f6f4044"/>
    <p:sldId xmlns:r="http://schemas.openxmlformats.org/officeDocument/2006/relationships" id="257" r:id="Rcce35d744cde414c"/>
    <p:sldId xmlns:r="http://schemas.openxmlformats.org/officeDocument/2006/relationships" id="258" r:id="R006027c6452b4d4f"/>
    <p:sldId xmlns:r="http://schemas.openxmlformats.org/officeDocument/2006/relationships" id="259" r:id="R4a9e3fce45394f47"/>
    <p:sldId xmlns:r="http://schemas.openxmlformats.org/officeDocument/2006/relationships" id="260" r:id="R30836c2a1f8f4300"/>
    <p:sldId xmlns:r="http://schemas.openxmlformats.org/officeDocument/2006/relationships" id="261" r:id="Rccf155dd45664700"/>
    <p:sldId xmlns:r="http://schemas.openxmlformats.org/officeDocument/2006/relationships" id="262" r:id="Rd70e9f04b3064d73"/>
    <p:sldId xmlns:r="http://schemas.openxmlformats.org/officeDocument/2006/relationships" id="263" r:id="R3db4fc03a34d413b"/>
    <p:sldId xmlns:r="http://schemas.openxmlformats.org/officeDocument/2006/relationships" id="264" r:id="R6c827ceaa9f54043"/>
    <p:sldId xmlns:r="http://schemas.openxmlformats.org/officeDocument/2006/relationships" id="265" r:id="R3ed3d5aa27d24b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3278854fc4470f" /><Relationship Type="http://schemas.openxmlformats.org/officeDocument/2006/relationships/slideMaster" Target="/ppt/slideMasters/slideMaster1.xml" Id="Rf29d86a06e7041f8" /><Relationship Type="http://schemas.openxmlformats.org/officeDocument/2006/relationships/notesMaster" Target="/ppt/notesMasters/notesMaster1.xml" Id="Rfe9ad2d0ca6b4dcc" /><Relationship Type="http://schemas.openxmlformats.org/officeDocument/2006/relationships/presProps" Target="/ppt/presProps.xml" Id="R70b8af4d3e644cc3" /><Relationship Type="http://schemas.openxmlformats.org/officeDocument/2006/relationships/tableStyles" Target="/ppt/tableStyles.xml" Id="R168efc0cf82244e0" /><Relationship Type="http://schemas.openxmlformats.org/officeDocument/2006/relationships/slide" Target="/ppt/slides/slide1.xml" Id="R761cf86d3f6f4044" /><Relationship Type="http://schemas.openxmlformats.org/officeDocument/2006/relationships/slide" Target="/ppt/slides/slide2.xml" Id="Rcce35d744cde414c" /><Relationship Type="http://schemas.openxmlformats.org/officeDocument/2006/relationships/slide" Target="/ppt/slides/slide3.xml" Id="R006027c6452b4d4f" /><Relationship Type="http://schemas.openxmlformats.org/officeDocument/2006/relationships/slide" Target="/ppt/slides/slide4.xml" Id="R4a9e3fce45394f47" /><Relationship Type="http://schemas.openxmlformats.org/officeDocument/2006/relationships/slide" Target="/ppt/slides/slide5.xml" Id="R30836c2a1f8f4300" /><Relationship Type="http://schemas.openxmlformats.org/officeDocument/2006/relationships/slide" Target="/ppt/slides/slide6.xml" Id="Rccf155dd45664700" /><Relationship Type="http://schemas.openxmlformats.org/officeDocument/2006/relationships/slide" Target="/ppt/slides/slide7.xml" Id="Rd70e9f04b3064d73" /><Relationship Type="http://schemas.openxmlformats.org/officeDocument/2006/relationships/slide" Target="/ppt/slides/slide8.xml" Id="R3db4fc03a34d413b" /><Relationship Type="http://schemas.openxmlformats.org/officeDocument/2006/relationships/slide" Target="/ppt/slides/slide9.xml" Id="R6c827ceaa9f54043" /><Relationship Type="http://schemas.openxmlformats.org/officeDocument/2006/relationships/slide" Target="/ppt/slides/slide10.xml" Id="R3ed3d5aa27d24b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6bbb9b07b44d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07ffd853134a4c" /><Relationship Type="http://schemas.openxmlformats.org/officeDocument/2006/relationships/notesMaster" Target="/ppt/notesMasters/notesMaster1.xml" Id="R08d9d1c2e99042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c05a88f85e47c8" /><Relationship Type="http://schemas.openxmlformats.org/officeDocument/2006/relationships/notesMaster" Target="/ppt/notesMasters/notesMaster1.xml" Id="R27d4e4e334a74f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d361bad0f342ff" /><Relationship Type="http://schemas.openxmlformats.org/officeDocument/2006/relationships/notesMaster" Target="/ppt/notesMasters/notesMaster1.xml" Id="R9efa3d93f81949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25c40820f849b9" /><Relationship Type="http://schemas.openxmlformats.org/officeDocument/2006/relationships/notesMaster" Target="/ppt/notesMasters/notesMaster1.xml" Id="Rcae328d4171543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9bfd2bc038453d" /><Relationship Type="http://schemas.openxmlformats.org/officeDocument/2006/relationships/notesMaster" Target="/ppt/notesMasters/notesMaster1.xml" Id="R2c46c989624546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774ed8f65a4cda" /><Relationship Type="http://schemas.openxmlformats.org/officeDocument/2006/relationships/notesMaster" Target="/ppt/notesMasters/notesMaster1.xml" Id="R8971fededec04d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21022017404d98" /><Relationship Type="http://schemas.openxmlformats.org/officeDocument/2006/relationships/notesMaster" Target="/ppt/notesMasters/notesMaster1.xml" Id="Rdcd90ff6280f45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200c9da90c4e97" /><Relationship Type="http://schemas.openxmlformats.org/officeDocument/2006/relationships/notesMaster" Target="/ppt/notesMasters/notesMaster1.xml" Id="R96925c1b5cfc43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0bc572ee014935" /><Relationship Type="http://schemas.openxmlformats.org/officeDocument/2006/relationships/notesMaster" Target="/ppt/notesMasters/notesMaster1.xml" Id="Ra73c8472540044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cf254a384a4844" /><Relationship Type="http://schemas.openxmlformats.org/officeDocument/2006/relationships/notesMaster" Target="/ppt/notesMasters/notesMaster1.xml" Id="R5291ff05c3ad4e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团队自编技术展示。证据来源：docs/evidence/issue-3/；docs/TEAM_PHOTO_EVALUATION.md。个人团队身份仅在本地填写。导航全部模拟，没有真实机器人运行数据。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来源：docs/PRODUCT_BRIEF.md、docs/ARCHITECTURE.md、docs/P1_IMPLEMENTATION.md。历史位置是决策依据，不能作为本轮确认。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来源：docs/P1_IMPLEMENTATION.md 与 docs/evidence/issue-3/replay/。SUSPECTED 和 UNKNOWN 不证明物品不存在。FOUND 是已登记外观，不区分同款多个实体。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来源：pyproject.toml、src/hometrace/、docs/ARCHITECTURE.md。OpenCV 等成熟算法为开源复用，原创贡献为记忆、决策、验证和展示适配。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实际截图：docs/evidence/issue-3/browser/moved-matched.png，配套 moved-report.json。45 matches/41 inliers。bbox [90.4,159.53,285.45,296.16]。OpenCV box_in_scene.png 为独立正例，box.png 登记自匹配不计独立正例。图片来源与许可：examples/recorded_images/sources.json。A/B/C 和时间为 Demo 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来源：docs/evidence/issue-3/browser/missing-final.png，missing-report.json。公开负例为 OpenCV apple/orange/fruits 照片，原图未修改，不是机器人采集。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来源：docs/evidence/issue-3/browser/replay-rejected-B.png、replay-report.json。三次模拟到达仅一次新的图像观察，重放拒绝不能包装为新的视觉匹配。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来源：docs/evidence/issue-3/comparison.json，pytest.txt。P2 基线 main efaaaffae47ddb577ec9472d03838b66321eb178。P3 226 passed，日志 artifacts/p3-pytest.txt不能将小样本对照推广为效率或准确率优势。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来源：docs/TEAM_PHOTO_EVALUATION.md、docs/evidence/p3-photos-summary.json。75 是同图片跨算法评估，其中24带目标评价和51无目标评价，不是75独立图片或泛化率。耳机壳参考图质量拒绝，钥匙/笔未确认，玻璃杯无正例。纸巾 SQLite moved/missing SUSPECTED/null，replay UNKNOWN。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来源：docs/submission/OPEN_SOURCE_AND_ORIGINALITY.md、MATERIALS_CHECKLIST.md、RUN_TEST_REPORT.md。技术说明书为 team_authored 自编材料，非官方模板。个人团队信息本地补充，最终ZIP需要材料完整、PM审核与解压核验，上传成功另需平台回执。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cfa08884244ab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0aa5db46e4c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d2779f41ac4f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9507be190c45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2cd454810446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e469bf61e41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2A0D92-4978-456B-B0D7-4CEE33FC4E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F63E6A-C743-4E00-BBFF-9B8088EB16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94C1E86-B427-4268-AFB0-57E9F3AA04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A3C54B-BF03-4AEB-B56D-C2CCB1762D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051EA6F-4C0E-4F8C-AD5A-DF873C349C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5311EE7-A647-4A17-8B4C-A69137A952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C11908-FF85-4443-BC57-E1578A63FE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6991559-6032-480C-9104-7C540F0A8C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0DA932-55D2-48EE-9D93-EB817545CA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A4DDF3-D88C-44C3-AD2E-BBC539F90B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ec42b135244cc0" /><Relationship Type="http://schemas.openxmlformats.org/officeDocument/2006/relationships/slideLayout" Target="/ppt/slideLayouts/slideLayout1.xml" Id="R1b15c7f7304f4ef2" /><Relationship Type="http://schemas.openxmlformats.org/officeDocument/2006/relationships/slideLayout" Target="/ppt/slideLayouts/slideLayout2.xml" Id="R556e27d367574486" /><Relationship Type="http://schemas.openxmlformats.org/officeDocument/2006/relationships/slideLayout" Target="/ppt/slideLayouts/slideLayout3.xml" Id="R8cff5afe13d64473" /><Relationship Type="http://schemas.openxmlformats.org/officeDocument/2006/relationships/slideLayout" Target="/ppt/slideLayouts/slideLayout4.xml" Id="R2f44cdf32e20480c" /><Relationship Type="http://schemas.openxmlformats.org/officeDocument/2006/relationships/slideLayout" Target="/ppt/slideLayouts/slideLayout5.xml" Id="R92111926677f4e3e" /><Relationship Type="http://schemas.openxmlformats.org/officeDocument/2006/relationships/slideLayout" Target="/ppt/slideLayouts/slideLayout6.xml" Id="R71803624427141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15c7f7304f4ef2"/>
    <p:sldLayoutId xmlns:r="http://schemas.openxmlformats.org/officeDocument/2006/relationships" id="2147483650" r:id="R556e27d367574486"/>
    <p:sldLayoutId xmlns:r="http://schemas.openxmlformats.org/officeDocument/2006/relationships" id="2147483651" r:id="R8cff5afe13d64473"/>
    <p:sldLayoutId xmlns:r="http://schemas.openxmlformats.org/officeDocument/2006/relationships" id="2147483652" r:id="R2f44cdf32e20480c"/>
    <p:sldLayoutId xmlns:r="http://schemas.openxmlformats.org/officeDocument/2006/relationships" id="2147483653" r:id="R92111926677f4e3e"/>
    <p:sldLayoutId xmlns:r="http://schemas.openxmlformats.org/officeDocument/2006/relationships" id="2147483654" r:id="R71803624427141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bd3ce2b47648db" /><Relationship Type="http://schemas.openxmlformats.org/officeDocument/2006/relationships/notesSlide" Target="/ppt/notesSlides/notesSlide1.xml" Id="Rfee103ba39d248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82b0092c524fb9" /><Relationship Type="http://schemas.openxmlformats.org/officeDocument/2006/relationships/notesSlide" Target="/ppt/notesSlides/notesSlide2.xml" Id="R73b7552623e740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e0718d8c6b45ab" /><Relationship Type="http://schemas.openxmlformats.org/officeDocument/2006/relationships/notesSlide" Target="/ppt/notesSlides/notesSlide3.xml" Id="R5968286e011240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039bfb990c4c38" /><Relationship Type="http://schemas.openxmlformats.org/officeDocument/2006/relationships/notesSlide" Target="/ppt/notesSlides/notesSlide4.xml" Id="R487889b495754d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62944c8ce407e" /><Relationship Type="http://schemas.openxmlformats.org/officeDocument/2006/relationships/image" Target="/ppt/media/image.png" Id="Ra7f3428084fc4d57" /><Relationship Type="http://schemas.openxmlformats.org/officeDocument/2006/relationships/notesSlide" Target="/ppt/notesSlides/notesSlide5.xml" Id="R24160fb8714a47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4a3514db5842d9" /><Relationship Type="http://schemas.openxmlformats.org/officeDocument/2006/relationships/image" Target="/ppt/media/image2.png" Id="R3cc80a389de8414f" /><Relationship Type="http://schemas.openxmlformats.org/officeDocument/2006/relationships/notesSlide" Target="/ppt/notesSlides/notesSlide6.xml" Id="R11fb7db9ab114b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2abfcab4564655" /><Relationship Type="http://schemas.openxmlformats.org/officeDocument/2006/relationships/image" Target="/ppt/media/image3.png" Id="R0614adcc1d32414c" /><Relationship Type="http://schemas.openxmlformats.org/officeDocument/2006/relationships/notesSlide" Target="/ppt/notesSlides/notesSlide7.xml" Id="R9808f3d362884c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555f1b82de4e25" /><Relationship Type="http://schemas.openxmlformats.org/officeDocument/2006/relationships/notesSlide" Target="/ppt/notesSlides/notesSlide8.xml" Id="Rde883cd33be749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0e17a3aad447ab" /><Relationship Type="http://schemas.openxmlformats.org/officeDocument/2006/relationships/notesSlide" Target="/ppt/notesSlides/notesSlide9.xml" Id="Rcaf96dcd54494f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efa67d63314666" /><Relationship Type="http://schemas.openxmlformats.org/officeDocument/2006/relationships/notesSlide" Target="/ppt/notesSlides/notesSlide10.xml" Id="R22b5bb42cad749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29FB6-55B1-481A-83A7-B99B2230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HomeTrace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220A9-B728-47FD-99B2-D5A1E916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家庭物品的时空记忆与主动寻找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59F47-EC57-47AE-BC46-D194F317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HomeTrace    实拍图像 · 模拟导航 · 无真实机器人运行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81C56-09E1-4EEB-A5DE-A510722D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01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C2A83-FE6A-48A4-89CE-8940B79B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记住历史位置</a:t>
            </a:r>
          </a:p>
          <a:p xmlns:a="http://schemas.openxmlformats.org/drawingml/2006/main">
            <a:pPr>
              <a:defRPr sz="4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用当前证据确认结果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90792-BA66-4ABD-AA9D-050EBA5B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2026 年华为嵌入式软件大赛初赛技术展示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17FBB-A06E-48F9-942D-42B6CA5E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可运行软件闭环与家庭照片适用性实测</a:t>
            </a:r>
          </a:p>
        </p:txBody>
      </p:sp>
    </p:spTree>
    <p:extLst>
      <p:ext uri="{BB962C8B-B14F-4D97-AF65-F5344CB8AC3E}">
        <p14:creationId xmlns:p14="http://schemas.microsoft.com/office/powerpoint/2010/main" val="215468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9F792-F584-44B3-BA18-61115169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从历史线索开始，逐步验证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1981E-129A-4949-8DDC-4A40DD1F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产品创新集中在记忆、决策与证据的完整流程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C5523-E2AA-47E9-AC31-D262D7AB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HomeTrace    实拍图像 · 模拟导航 · 无真实机器人运行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86500-D2FF-4AE7-A504-E785946C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02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32EC3-43C5-4480-851E-B77DBB20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01  登记物品与历史位置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967B9-D84E-4080-ADB1-F8631A0D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SQLite 跨运行保存参考外观、历史观测和来源。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162E6-F507-4316-849F-15899163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02  读取当前观察并调整计划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A8550-0660-4A3E-91B2-BECAD1ED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先检查历史点，未确认时继续搜索候选地点。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D103B-0E94-4B5C-B6E6-DD26BD73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03  结果附带可追溯证据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57923-DEAD-474E-B155-661290F8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43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展示当前照片、几何支持、失败原因与结束状态。</a:t>
            </a:r>
          </a:p>
        </p:txBody>
      </p:sp>
    </p:spTree>
    <p:extLst>
      <p:ext uri="{BB962C8B-B14F-4D97-AF65-F5344CB8AC3E}">
        <p14:creationId xmlns:p14="http://schemas.microsoft.com/office/powerpoint/2010/main" val="12566617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B8AB1-94F3-4942-8E57-FCCEAA1D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历史记录不能代替当前证据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AE8E9-5C0A-454F-A6D3-14367CE1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图像来源、时间和 SHA256 共同约束证据链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687B3-6611-4E00-B6B3-A60D3FA9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HomeTrace    实拍图像 · 模拟导航 · 无真实机器人运行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FDBC0-1DE0-4FDC-9CE9-69835D69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03 / 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1C1EC-EEAC-438B-8E38-E9E3E72DB4A2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095750"/>
                <a:gridCol w="440055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DF"/>
                      </a:solidFill>
                      <a:prstDash val="solid"/>
                    </a:lnL>
                    <a:lnR w="9525">
                      <a:solidFill>
                        <a:srgbClr val="D8DEDF"/>
                      </a:solidFill>
                      <a:prstDash val="solid"/>
                    </a:lnR>
                    <a:lnT w="9525">
                      <a:solidFill>
                        <a:srgbClr val="D8DEDF"/>
                      </a:solidFill>
                      <a:prstDash val="solid"/>
                    </a:lnT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T w="9525">
                      <a:solidFill>
                        <a:srgbClr val="D8DEDF"/>
                      </a:solidFill>
                      <a:prstDash val="solid"/>
                    </a:lnT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对用户的说明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T w="9525">
                      <a:solidFill>
                        <a:srgbClr val="D8DEDF"/>
                      </a:solidFill>
                      <a:prstDash val="solid"/>
                    </a:lnT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FOUND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DF"/>
                      </a:solidFill>
                      <a:prstDash val="solid"/>
                    </a:lnL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当前图像通过验证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确认外观与地点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SUSPECTED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DF"/>
                      </a:solidFill>
                      <a:prstDash val="solid"/>
                    </a:lnL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存在候选但支持不足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尚未确认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UNKNOWN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DF"/>
                      </a:solidFill>
                      <a:prstDash val="solid"/>
                    </a:lnL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没有足以确认的证据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尚未确认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37B63-4115-4A37-9E4A-2C13CB64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旧图更名或改时间，仍不能产生新的确认。</a:t>
            </a:r>
          </a:p>
        </p:txBody>
      </p:sp>
    </p:spTree>
    <p:extLst>
      <p:ext uri="{BB962C8B-B14F-4D97-AF65-F5344CB8AC3E}">
        <p14:creationId xmlns:p14="http://schemas.microsoft.com/office/powerpoint/2010/main" val="5730810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A46CC-128B-4FDC-9E44-B0D2F517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轻量本地实现，核心逻辑独立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39730-A9DB-4CB5-AE91-8A402E88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Python + SQLite + OpenCV + 本地 HTML/JS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C5CC8-7FB0-43BE-A973-A759DD84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HomeTrace    实拍图像 · 模拟导航 · 无真实机器人运行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AFA54-2FD1-4BD3-9AA8-A2ED0518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04 / 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65828-C1F0-4665-876A-428F865B7729}"/>
              </a:ext>
            </a:extLst>
          </p:cNvPr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DF"/>
                      </a:solidFill>
                      <a:prstDash val="solid"/>
                    </a:lnL>
                    <a:lnR w="9525">
                      <a:solidFill>
                        <a:srgbClr val="D8DEDF"/>
                      </a:solidFill>
                      <a:prstDash val="solid"/>
                    </a:lnR>
                    <a:lnT w="9525">
                      <a:solidFill>
                        <a:srgbClr val="D8DEDF"/>
                      </a:solidFill>
                      <a:prstDash val="solid"/>
                    </a:lnT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本阶段职责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T w="9525">
                      <a:solidFill>
                        <a:srgbClr val="D8DEDF"/>
                      </a:solidFill>
                      <a:prstDash val="solid"/>
                    </a:lnT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Search Core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DF"/>
                      </a:solidFill>
                      <a:prstDash val="solid"/>
                    </a:lnL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历史查询、候选排序、观察消费与重规划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视觉适配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DF"/>
                      </a:solidFill>
                      <a:prstDash val="solid"/>
                    </a:lnL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ORB 特征、Hamming 匹配、RANSAC 验证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证据存储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DF"/>
                      </a:solidFill>
                      <a:prstDash val="solid"/>
                    </a:lnL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参考图、当前图、摘要、时间与结构化事件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展示与导航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DF"/>
                      </a:solidFill>
                      <a:prstDash val="solid"/>
                    </a:lnL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逐步页面与模拟到达事件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C994D-C813-45F8-9DD9-443B560F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无需模型权重、ROS 或机器人 SDK。</a:t>
            </a:r>
          </a:p>
        </p:txBody>
      </p:sp>
    </p:spTree>
    <p:extLst>
      <p:ext uri="{BB962C8B-B14F-4D97-AF65-F5344CB8AC3E}">
        <p14:creationId xmlns:p14="http://schemas.microsoft.com/office/powerpoint/2010/main" val="2627511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11B01-7543-4B7D-9310-C0C2B553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正例在 B 获得当前图像确认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A155F-7793-44A9-B510-DD741BC5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公开实拍样例：检查 A 未确认，继续 B，最终 FOUND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9AD03-8E85-4250-A613-2A76BC5B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HomeTrace    实拍图像 · 模拟导航 · 无真实机器人运行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705E3-365E-4B61-B274-FA2ADF76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05 / 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EF70E-E23D-4648-AA1A-8FAB685ACE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3428084fc4d57"/>
          <a:stretch xmlns:a="http://schemas.openxmlformats.org/drawingml/2006/main"/>
        </p:blipFill>
        <p:spPr>
          <a:xfrm xmlns:a="http://schemas.openxmlformats.org/drawingml/2006/main">
            <a:off x="1791007" y="2000250"/>
            <a:ext cx="5161935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FA816-2827-4658-8D38-8927D4CD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A5773-B8EB-4FFF-AECE-F568C77F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有效匹配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AE251-FDE0-4391-A83C-1EA1D534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9F64E-8C44-433D-AAB2-012AD74F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几何内点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B169D-16BD-4286-B497-7CE79908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102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框坐标与报告一致</a:t>
            </a:r>
          </a:p>
        </p:txBody>
      </p:sp>
    </p:spTree>
    <p:extLst>
      <p:ext uri="{BB962C8B-B14F-4D97-AF65-F5344CB8AC3E}">
        <p14:creationId xmlns:p14="http://schemas.microsoft.com/office/powerpoint/2010/main" val="7857003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0872D-754D-4DEE-B114-FFC46F9A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负例保留未确认状态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A4E63-F167-41A9-93BF-762EF03E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SUSPECTED 的确认地点为空，不把候选匹配解释为成功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3D718-B6F8-4127-8C65-78B6D944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HomeTrace    实拍图像 · 模拟导航 · 无真实机器人运行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C32D9-6EA1-4821-BC19-5CF662AC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06 / 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A7C93-A4A1-4C8E-9549-983641D885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80a389de8414f"/>
          <a:stretch xmlns:a="http://schemas.openxmlformats.org/drawingml/2006/main"/>
        </p:blipFill>
        <p:spPr>
          <a:xfrm xmlns:a="http://schemas.openxmlformats.org/drawingml/2006/main">
            <a:off x="2589390" y="1943100"/>
            <a:ext cx="3565170" cy="4114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79AA8-AC69-4B52-A904-5932602D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7000"/>
            <a:ext cx="3276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rPr>
              <a:t>SUSPECTED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46689-4D84-4890-A5BC-D78CA5BD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32766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检查全部候选点</a:t>
            </a:r>
          </a:p>
          <a:p xmlns:a="http://schemas.openxmlformats.org/drawingml/2006/main">
            <a: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仍无可靠确认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不证明物品不存在</a:t>
            </a:r>
          </a:p>
        </p:txBody>
      </p:sp>
    </p:spTree>
    <p:extLst>
      <p:ext uri="{BB962C8B-B14F-4D97-AF65-F5344CB8AC3E}">
        <p14:creationId xmlns:p14="http://schemas.microsoft.com/office/powerpoint/2010/main" val="18815033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E19A0-4A1F-4E89-B699-E68429E9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旧图重放不能刷新确认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82967-A9FB-4ACB-AE95-0CCBB935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已见图像拒绝成为本轮新证据，最终 UNKNOWN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E3005-83DB-44C4-A04E-402EE22C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HomeTrace    实拍图像 · 模拟导航 · 无真实机器人运行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19CC2-983F-44FB-8CAC-FC3F1474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07 / 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72D74-4815-4631-BD07-5DB0E78E98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4adcc1d32414c"/>
          <a:stretch xmlns:a="http://schemas.openxmlformats.org/drawingml/2006/main"/>
        </p:blipFill>
        <p:spPr>
          <a:xfrm xmlns:a="http://schemas.openxmlformats.org/drawingml/2006/main">
            <a:off x="1717265" y="1943100"/>
            <a:ext cx="5309419" cy="4114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79012-1736-495D-AAB3-9C8EA9BE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7000"/>
            <a:ext cx="3276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FFB4C-26FF-49DC-9BE7-2182B7BC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32766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拒绝旧 B 与旧 A</a:t>
            </a:r>
          </a:p>
          <a:p xmlns:a="http://schemas.openxmlformats.org/drawingml/2006/main">
            <a: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仅 C 新解码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不出现当前确认框</a:t>
            </a:r>
          </a:p>
        </p:txBody>
      </p:sp>
    </p:spTree>
    <p:extLst>
      <p:ext uri="{BB962C8B-B14F-4D97-AF65-F5344CB8AC3E}">
        <p14:creationId xmlns:p14="http://schemas.microsoft.com/office/powerpoint/2010/main" val="10800753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2135E-BE70-4D3C-9A56-3B2717D6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公平对照中，当前步数打平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249BD-80B0-4E33-B2D7-C7EFA37D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同候选点、同输入图片，两种策略分别登记与运行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538FC-1D66-476D-9681-395F4BD1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HomeTrace    实拍图像 · 模拟导航 · 无真实机器人运行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C9FF6-9158-40C5-A6F9-B73464C4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08 / 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317AD-22CB-409E-9879-3FB7009EC053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286000"/>
                <a:gridCol w="2286000"/>
                <a:gridCol w="306705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DF"/>
                      </a:solidFill>
                      <a:prstDash val="solid"/>
                    </a:lnL>
                    <a:lnR w="9525">
                      <a:solidFill>
                        <a:srgbClr val="D8DEDF"/>
                      </a:solidFill>
                      <a:prstDash val="solid"/>
                    </a:lnR>
                    <a:lnT w="9525">
                      <a:solidFill>
                        <a:srgbClr val="D8DEDF"/>
                      </a:solidFill>
                      <a:prstDash val="solid"/>
                    </a:lnT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记忆优先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T w="9525">
                      <a:solidFill>
                        <a:srgbClr val="D8DEDF"/>
                      </a:solidFill>
                      <a:prstDash val="solid"/>
                    </a:lnT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固定顺序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T w="9525">
                      <a:solidFill>
                        <a:srgbClr val="D8DEDF"/>
                      </a:solidFill>
                      <a:prstDash val="solid"/>
                    </a:lnT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最终状态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T w="9525">
                      <a:solidFill>
                        <a:srgbClr val="D8DEDF"/>
                      </a:solidFill>
                      <a:prstDash val="solid"/>
                    </a:lnT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正例 moved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DF"/>
                      </a:solidFill>
                      <a:prstDash val="solid"/>
                    </a:lnL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FOUND / 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负例 missing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DF"/>
                      </a:solidFill>
                      <a:prstDash val="solid"/>
                    </a:lnL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SUSPECTED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重放 replay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DF"/>
                      </a:solidFill>
                      <a:prstDash val="solid"/>
                    </a:lnL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UNKNOWN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E7E93-39F1-49AC-8E18-96EF0E88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尚未证明搜索效率提高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9C90E-0DE6-42E5-BAFC-B17739C1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P3 本轮 226 项通过；P2 稳定基线 148 项保留。</a:t>
            </a:r>
          </a:p>
        </p:txBody>
      </p:sp>
    </p:spTree>
    <p:extLst>
      <p:ext uri="{BB962C8B-B14F-4D97-AF65-F5344CB8AC3E}">
        <p14:creationId xmlns:p14="http://schemas.microsoft.com/office/powerpoint/2010/main" val="4331963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85025-B856-4AFA-9666-84E8ADDC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家庭照片如实呈现适用性限制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FD364-F276-4ECB-A670-7EC9C5B5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25 个图对，3 种成熟算法，共 75 次检测评估，0 FOUND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2963A-130E-4523-912D-F1485368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HomeTrace    实拍图像 · 模拟导航 · 无真实机器人运行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62D94-1E47-462D-8228-CC1E05CE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09 / 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C68BA-3676-4A7A-9103-DFAEF205EE8F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381250"/>
                <a:gridCol w="2286000"/>
                <a:gridCol w="230505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目标与算法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DF"/>
                      </a:solidFill>
                      <a:prstDash val="solid"/>
                    </a:lnL>
                    <a:lnR w="9525">
                      <a:solidFill>
                        <a:srgbClr val="D8DEDF"/>
                      </a:solidFill>
                      <a:prstDash val="solid"/>
                    </a:lnR>
                    <a:lnT w="9525">
                      <a:solidFill>
                        <a:srgbClr val="D8DEDF"/>
                      </a:solidFill>
                      <a:prstDash val="solid"/>
                    </a:lnT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 / 内点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T w="9525">
                      <a:solidFill>
                        <a:srgbClr val="D8DEDF"/>
                      </a:solidFill>
                      <a:prstDash val="solid"/>
                    </a:lnT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几何覆盖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T w="9525">
                      <a:solidFill>
                        <a:srgbClr val="D8DEDF"/>
                      </a:solidFill>
                      <a:prstDash val="solid"/>
                    </a:lnT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T w="9525">
                      <a:solidFill>
                        <a:srgbClr val="D8DEDF"/>
                      </a:solidFill>
                      <a:prstDash val="solid"/>
                    </a:lnT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纸巾当前 B  ORB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DF"/>
                      </a:solidFill>
                      <a:prstDash val="solid"/>
                    </a:lnL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 /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未确认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纸巾当前 B  SIFT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DF"/>
                      </a:solidFill>
                      <a:prstDash val="solid"/>
                    </a:lnL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74 / 23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0.0391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未确认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保温杯  AKAZE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DF"/>
                      </a:solidFill>
                      <a:prstDash val="solid"/>
                    </a:lnL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 / 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0.0342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未确认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DF"/>
                      </a:solidFill>
                      <a:prstDash val="solid"/>
                    </a:lnR>
                    <a:lnB w="9525">
                      <a:solidFill>
                        <a:srgbClr val="D8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8A6A5-8D01-4511-8DE5-0A15500F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匹配点多，也可能缺少足够的几何支持。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52B58-BFF3-4B04-8CF3-81D39ED5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生产保留 ORB 和原阈值；家庭原图不进入公开材料。</a:t>
            </a:r>
          </a:p>
        </p:txBody>
      </p:sp>
    </p:spTree>
    <p:extLst>
      <p:ext uri="{BB962C8B-B14F-4D97-AF65-F5344CB8AC3E}">
        <p14:creationId xmlns:p14="http://schemas.microsoft.com/office/powerpoint/2010/main" val="19245886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0880E-A6B5-4B84-B57B-86963DD9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可追溯的寻物软件闭环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FB745-49FB-4ABF-A1B8-494C2D3D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材料与实际能力保持一致，下一步以补齐验证为优先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2F338-D908-49C8-A496-9FE68DC9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HomeTrace    实拍图像 · 模拟导航 · 无真实机器人运行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C34CD-5F7C-4377-99C3-93154747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16C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63FA1-F137-4652-9E1E-14EFA87A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87F78"/>
                </a:solidFill>
                <a:latin typeface="Microsoft YaHei"/>
                <a:ea typeface="Microsoft YaHei"/>
                <a:cs typeface="Microsoft YaHei"/>
              </a:rPr>
              <a:t>已经实现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A058D-FFAC-4EFE-BE09-FC88A1B8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跨运行记忆、主动搜索、当前图像验证、重放保护</a:t>
            </a:r>
          </a:p>
          <a:p xmlns:a="http://schemas.openxmlformats.org/drawingml/2006/main">
            <a:pPr>
              <a:defRPr sz="22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逐步演示与证据报告、提交材料和打包校验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820FE-5893-4748-81FA-DED8B9D9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A35F11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D4513-1CFA-4BB0-BA56-59863214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家庭图片尚未确认，搜索效率尚未证明提升</a:t>
            </a:r>
          </a:p>
          <a:p xmlns:a="http://schemas.openxmlformats.org/drawingml/2006/main">
            <a:pPr>
              <a:def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3D"/>
                </a:solidFill>
                <a:latin typeface="Microsoft YaHei"/>
                <a:ea typeface="Microsoft YaHei"/>
                <a:cs typeface="Microsoft YaHei"/>
              </a:rPr>
              <a:t>导航为模拟，真实机器人与端侧性能仍待验证</a:t>
            </a:r>
          </a:p>
        </p:txBody>
      </p:sp>
    </p:spTree>
    <p:extLst>
      <p:ext uri="{BB962C8B-B14F-4D97-AF65-F5344CB8AC3E}">
        <p14:creationId xmlns:p14="http://schemas.microsoft.com/office/powerpoint/2010/main" val="198905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2026-10-23T01:34:12.9550000Z</dcterms:created>
  <dcterms:modified xsi:type="dcterms:W3CDTF">2026-10-23T01:34:12.9550000Z</dcterms:modified>
</coreProperties>
</file>